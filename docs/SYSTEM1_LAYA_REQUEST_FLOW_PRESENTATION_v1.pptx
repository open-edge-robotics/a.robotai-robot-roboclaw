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1069848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Noto Sans CJK KR"/>
              </a:defRPr>
            </a:pPr>
            <a:r>
              <a:t>RoboClaw System 1(Laya)</a:t>
            </a:r>
            <a:br/>
            <a:r>
              <a:t>요청 처리 플로우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88036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200" b="0">
                <a:solidFill>
                  <a:srgbClr val="BCE1F6"/>
                </a:solidFill>
                <a:latin typeface="Noto Sans CJK KR"/>
              </a:defRPr>
            </a:pPr>
            <a:r>
              <a:t>“집안에서 널려있는 수건을 수거해서 바구니에 넣어줘”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977639"/>
            <a:ext cx="10378440" cy="731520"/>
          </a:xfrm>
          <a:prstGeom prst="roundRect">
            <a:avLst/>
          </a:prstGeom>
          <a:solidFill>
            <a:srgbClr val="1F3758"/>
          </a:solidFill>
          <a:ln w="19050">
            <a:solidFill>
              <a:srgbClr val="38B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700" b="1">
                <a:solidFill>
                  <a:srgbClr val="FFFFFF"/>
                </a:solidFill>
                <a:latin typeface="Noto Sans CJK KR"/>
              </a:defRPr>
            </a:pPr>
            <a:r>
              <a:t>핵심 질문 ① 실제 아키텍처  ② 처리 흐름  ③ System 1의 task decomposition 여부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300" b="0">
                <a:solidFill>
                  <a:srgbClr val="B4BECD"/>
                </a:solidFill>
                <a:latin typeface="Noto Sans CJK KR"/>
              </a:defRPr>
            </a:pPr>
            <a:r>
              <a:t>코드 기준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1. 결론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64208" y="786384"/>
            <a:ext cx="9692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100" b="0">
                <a:solidFill>
                  <a:srgbClr val="5D6978"/>
                </a:solidFill>
                <a:latin typeface="Noto Sans CJK KR"/>
              </a:defRPr>
            </a:pPr>
            <a:r>
              <a:t>첨부 그림과 실제 구현 비교</a:t>
            </a:r>
          </a:p>
        </p:txBody>
      </p:sp>
      <p:pic>
        <p:nvPicPr>
          <p:cNvPr id="5" name="Picture 4" descr="pi-clipboard-590628bd-6424-4971-be17-a152f01d44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669280" cy="30118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629400" y="1417320"/>
            <a:ext cx="4892040" cy="96012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300" b="1">
                <a:solidFill>
                  <a:srgbClr val="132440"/>
                </a:solidFill>
                <a:latin typeface="Noto Sans CJK KR"/>
              </a:defRPr>
            </a:pPr>
            <a:r>
              <a:t>개념적으로는 유사하지만,</a:t>
            </a:r>
            <a:br/>
            <a:r>
              <a:t>실제 구현 구조는 조금 다름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97480"/>
            <a:ext cx="4892040" cy="292608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Laya가 ‘결정 / LLM / Rule / 기타’를 모두 선택하는 구조가 아님</a:t>
            </a:r>
          </a:p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Rule과 Laya는 설정으로 배타 선택</a:t>
            </a:r>
          </a:p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결과는 direct_skill / simple_reply / llm</a:t>
            </a:r>
          </a:p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복합 작업 분해는 별도 TaskDecomposer + System 2 LLM이 담당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2. 코드와 일치하는 실제 아키텍처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331720"/>
            <a:ext cx="1463040" cy="65836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5D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700" b="1">
                <a:solidFill>
                  <a:srgbClr val="132440"/>
                </a:solidFill>
                <a:latin typeface="Noto Sans CJK KR"/>
              </a:defRPr>
            </a:pPr>
            <a:r>
              <a:t>사용자 요청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2148840"/>
            <a:ext cx="2011680" cy="100584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상태·메모리·스킬</a:t>
            </a:r>
            <a:br/>
            <a:r>
              <a:t>컨텍스트 수집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2148840"/>
            <a:ext cx="1965960" cy="100584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800" b="1">
                <a:solidFill>
                  <a:srgbClr val="132440"/>
                </a:solidFill>
                <a:latin typeface="Noto Sans CJK KR"/>
              </a:defRPr>
            </a:pPr>
            <a:r>
              <a:t>사전 라우터</a:t>
            </a:r>
            <a:br/>
            <a:r>
              <a:t>Rule 또는 Laya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660904"/>
            <a:ext cx="32004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251960" y="2660904"/>
            <a:ext cx="36576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0" y="1188720"/>
            <a:ext cx="2057400" cy="777240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direct_skill</a:t>
            </a:r>
            <a:br/>
            <a:r>
              <a:t>스킬 직접 실행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359152"/>
            <a:ext cx="2057400" cy="77724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simple_reply</a:t>
            </a:r>
            <a:br/>
            <a:r>
              <a:t>고정 응답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3529584"/>
            <a:ext cx="2057400" cy="77724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llm</a:t>
            </a:r>
            <a:br/>
            <a:r>
              <a:t>System 2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583680" y="1572768"/>
            <a:ext cx="731520" cy="969264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583680" y="2633472"/>
            <a:ext cx="731520" cy="109728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583680" y="2743200"/>
            <a:ext cx="731520" cy="1170432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784080" y="3401568"/>
            <a:ext cx="1874519" cy="1024128"/>
          </a:xfrm>
          <a:prstGeom prst="roundRect">
            <a:avLst/>
          </a:prstGeom>
          <a:solidFill>
            <a:srgbClr val="FCE7E7"/>
          </a:solidFill>
          <a:ln w="1905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복합: TaskDecomposer</a:t>
            </a:r>
            <a:br/>
            <a:r>
              <a:t>단순: LLM Planner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72600" y="3913632"/>
            <a:ext cx="41148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709160" y="4526280"/>
            <a:ext cx="4297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400" b="1">
                <a:solidFill>
                  <a:srgbClr val="D24B4B"/>
                </a:solidFill>
                <a:latin typeface="Noto Sans CJK KR"/>
              </a:defRPr>
            </a:pPr>
            <a:r>
              <a:t>Laya 장애 시에만 RuleRouter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3. 첨부 그림과 실제 구현의 차이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1554480" cy="530352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0">
                <a:solidFill>
                  <a:srgbClr val="FFFFFF"/>
                </a:solidFill>
                <a:latin typeface="Noto Sans CJK KR"/>
              </a:defRPr>
            </a:pPr>
            <a:r>
              <a:t>항목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8840" y="1234440"/>
            <a:ext cx="3337560" cy="530352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0">
                <a:solidFill>
                  <a:srgbClr val="FFFFFF"/>
                </a:solidFill>
                <a:latin typeface="Noto Sans CJK KR"/>
              </a:defRPr>
            </a:pPr>
            <a:r>
              <a:t>첨부 그림 해석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234440"/>
            <a:ext cx="6080760" cy="530352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0">
                <a:solidFill>
                  <a:srgbClr val="FFFFFF"/>
                </a:solidFill>
                <a:latin typeface="Noto Sans CJK KR"/>
              </a:defRPr>
            </a:pPr>
            <a:r>
              <a:t>실제 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10512"/>
            <a:ext cx="1554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1810512"/>
            <a:ext cx="33375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Laya의 출력 목적지가 아님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1810512"/>
            <a:ext cx="60807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rule/laya 중 하나를 배타 선택; Laya 장애 시 fallback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633472"/>
            <a:ext cx="155448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결정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48840" y="2633472"/>
            <a:ext cx="333756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별도 결정 모듈로 표현됨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633472"/>
            <a:ext cx="608076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direct_skill / simple_reply / llm 결과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56432"/>
            <a:ext cx="1554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기타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3456432"/>
            <a:ext cx="33375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일반 분기로 표현됨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456432"/>
            <a:ext cx="60807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일반적인 ‘기타’ 분기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4279392"/>
            <a:ext cx="155448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Laya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4279392"/>
            <a:ext cx="333756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실행·계획까지 하는 것처럼 보임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279392"/>
            <a:ext cx="6080760" cy="749808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빠른 분류·라우팅 모델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102352"/>
            <a:ext cx="155448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Decomposition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48840" y="5102352"/>
            <a:ext cx="33375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System 1 내부처럼 보일 수 있음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5102352"/>
            <a:ext cx="6080760" cy="74980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191D22"/>
                </a:solidFill>
                <a:latin typeface="Noto Sans CJK KR"/>
              </a:defRPr>
            </a:pPr>
            <a:r>
              <a:t>TaskDecomposer와 기존 LLM이 담당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4. 분석 대상 요청과 실행 전제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417320"/>
            <a:ext cx="10332720" cy="105156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700" b="1">
                <a:solidFill>
                  <a:srgbClr val="132440"/>
                </a:solidFill>
                <a:latin typeface="Noto Sans CJK KR"/>
              </a:defRPr>
            </a:pPr>
            <a:r>
              <a:t>“집안에서 널려있는 수건을</a:t>
            </a:r>
            <a:br/>
            <a:r>
              <a:t>수거해서 바구니에 넣어줘”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971800"/>
            <a:ext cx="4663440" cy="1143000"/>
          </a:xfrm>
          <a:prstGeom prst="round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800">
                <a:solidFill>
                  <a:srgbClr val="FFFFFF"/>
                </a:solidFill>
                <a:latin typeface="DejaVu Sans Mono"/>
              </a:defRPr>
            </a:pPr>
            <a:r>
              <a:t>SYSTEM1_ROUTER=laya</a:t>
            </a:r>
            <a:br/>
            <a:r>
              <a:t>RC_ENABLE_TASK_DECOMPOSITION=true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880360"/>
            <a:ext cx="5166360" cy="205740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Task decomposition은 기본값 활성화</a:t>
            </a:r>
          </a:p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System 1 호출 전 로봇 상태·등록 스킬·메모리/RAG·기억된 장소·최근 대화 수집</a:t>
            </a:r>
          </a:p>
          <a:p>
            <a:pPr>
              <a:spcAft>
                <a:spcPts val="700"/>
              </a:spcAft>
              <a:defRPr sz="1800">
                <a:solidFill>
                  <a:srgbClr val="191D22"/>
                </a:solidFill>
                <a:latin typeface="Noto Sans CJK KR"/>
              </a:defRPr>
            </a:pPr>
            <a:r>
              <a:t>• 이후 _router.decide() 호출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5. 1차 판정: 복합 명령 감지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114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800" b="1">
                <a:solidFill>
                  <a:srgbClr val="132440"/>
                </a:solidFill>
                <a:latin typeface="Noto Sans CJK KR"/>
              </a:defRPr>
            </a:pPr>
            <a:r>
              <a:t>복합 명령을 만드는 연결어미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4892040" cy="685800"/>
          </a:xfrm>
          <a:prstGeom prst="round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800">
                <a:solidFill>
                  <a:srgbClr val="FFFFFF"/>
                </a:solidFill>
                <a:latin typeface="DejaVu Sans Mono"/>
              </a:defRPr>
            </a:pPr>
            <a:r>
              <a:t>(?:아서|어서|해서|와서|가서|여서|면서)\s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4892040" cy="77724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300" b="1">
                <a:solidFill>
                  <a:srgbClr val="132440"/>
                </a:solidFill>
                <a:latin typeface="Noto Sans CJK KR"/>
              </a:defRPr>
            </a:pPr>
            <a:r>
              <a:t>수거해서 바구니에 넣어줘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0" y="3703320"/>
            <a:ext cx="0" cy="640080"/>
          </a:xfrm>
          <a:prstGeom prst="line">
            <a:avLst/>
          </a:prstGeom>
          <a:ln w="31750">
            <a:solidFill>
              <a:srgbClr val="F19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31520" y="4389120"/>
            <a:ext cx="4892040" cy="731520"/>
          </a:xfrm>
          <a:prstGeom prst="roundRect">
            <a:avLst/>
          </a:prstGeom>
          <a:solidFill>
            <a:srgbClr val="FCE7E7"/>
          </a:solidFill>
          <a:ln w="1905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000" b="1">
                <a:solidFill>
                  <a:srgbClr val="D24B4B"/>
                </a:solidFill>
                <a:latin typeface="Noto Sans CJK KR"/>
              </a:defRPr>
            </a:pPr>
            <a:r>
              <a:t>looks_compound(...) ==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645920"/>
            <a:ext cx="5029200" cy="256032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91D22"/>
                </a:solidFill>
                <a:latin typeface="Noto Sans CJK KR"/>
              </a:defRPr>
            </a:pPr>
            <a:r>
              <a:t>• ‘수거해서’의 ‘-해서’가 정규식에 매칭</a:t>
            </a:r>
          </a:p>
          <a:p>
            <a:pPr>
              <a:spcAft>
                <a:spcPts val="700"/>
              </a:spcAft>
              <a:defRPr sz="2000">
                <a:solidFill>
                  <a:srgbClr val="191D22"/>
                </a:solidFill>
                <a:latin typeface="Noto Sans CJK KR"/>
              </a:defRPr>
            </a:pPr>
            <a:r>
              <a:t>• 이 문장은 복합 명령으로 확정 판정</a:t>
            </a:r>
          </a:p>
          <a:p>
            <a:pPr>
              <a:spcAft>
                <a:spcPts val="700"/>
              </a:spcAft>
              <a:defRPr sz="2000">
                <a:solidFill>
                  <a:srgbClr val="191D22"/>
                </a:solidFill>
                <a:latin typeface="Noto Sans CJK KR"/>
              </a:defRPr>
            </a:pPr>
            <a:r>
              <a:t>• 이 단계는 분해가 아니라 감지만 수행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754880"/>
            <a:ext cx="493776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200" b="0">
                <a:solidFill>
                  <a:srgbClr val="5D6978"/>
                </a:solidFill>
                <a:latin typeface="Noto Sans CJK KR"/>
              </a:defRPr>
            </a:pPr>
            <a:r>
              <a:t>코드: agent_node/task_planner.py:21-28, 71-93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6. 핵심: 이 요청은 실제 Laya 서버로 전송되지 않음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5120640" cy="2103120"/>
          </a:xfrm>
          <a:prstGeom prst="round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600">
                <a:solidFill>
                  <a:srgbClr val="FFFFFF"/>
                </a:solidFill>
                <a:latin typeface="DejaVu Sans Mono"/>
              </a:defRPr>
            </a:pPr>
            <a:r>
              <a:t>if looks_compound(instruction):</a:t>
            </a:r>
            <a:br/>
            <a:r>
              <a:t>    return RouteDecision.to_llm(</a:t>
            </a:r>
            <a:br/>
            <a:r>
              <a:t>        source=self.name,</a:t>
            </a:r>
            <a:br/>
            <a:r>
              <a:t>        intent="multi_step"</a:t>
            </a:r>
            <a:br/>
            <a:r>
              <a:t>    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80160"/>
            <a:ext cx="4800600" cy="23774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91D22"/>
                </a:solidFill>
                <a:latin typeface="Noto Sans CJK KR"/>
              </a:defRPr>
            </a:pPr>
            <a:r>
              <a:t>• Laya 모델에 intent 질문을 보내지 않음</a:t>
            </a:r>
          </a:p>
          <a:p>
            <a:pPr>
              <a:spcAft>
                <a:spcPts val="700"/>
              </a:spcAft>
              <a:defRPr sz="1900">
                <a:solidFill>
                  <a:srgbClr val="191D22"/>
                </a:solidFill>
                <a:latin typeface="Noto Sans CJK KR"/>
              </a:defRPr>
            </a:pPr>
            <a:r>
              <a:t>• Laya가 스킬을 고르지 않음</a:t>
            </a:r>
          </a:p>
          <a:p>
            <a:pPr>
              <a:spcAft>
                <a:spcPts val="700"/>
              </a:spcAft>
              <a:defRPr sz="1900">
                <a:solidFill>
                  <a:srgbClr val="191D22"/>
                </a:solidFill>
                <a:latin typeface="Noto Sans CJK KR"/>
              </a:defRPr>
            </a:pPr>
            <a:r>
              <a:t>• Laya가 하위 작업을 만들지 않음</a:t>
            </a:r>
          </a:p>
          <a:p>
            <a:pPr>
              <a:spcAft>
                <a:spcPts val="700"/>
              </a:spcAft>
              <a:defRPr sz="1900">
                <a:solidFill>
                  <a:srgbClr val="191D22"/>
                </a:solidFill>
                <a:latin typeface="Noto Sans CJK KR"/>
              </a:defRPr>
            </a:pPr>
            <a:r>
              <a:t>• 즉시 System 2로 전달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4160520"/>
            <a:ext cx="8321040" cy="77724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100" b="1">
                <a:solidFill>
                  <a:srgbClr val="132440"/>
                </a:solidFill>
                <a:latin typeface="Noto Sans CJK KR"/>
              </a:defRPr>
            </a:pPr>
            <a:r>
              <a:t>RouteDecision(kind="llm", intent="multi_step")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5138928"/>
            <a:ext cx="8229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500" b="1">
                <a:solidFill>
                  <a:srgbClr val="D24B4B"/>
                </a:solidFill>
                <a:latin typeface="Noto Sans CJK KR"/>
              </a:defRPr>
            </a:pPr>
            <a:r>
              <a:t>source=laya는 실제 모델 추론이 아니라 SystemOneRouter의 가드 판단을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7. TaskDecomposer가 System 2 LLM으로 분해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1965960" cy="7315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5D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700" b="1">
                <a:solidFill>
                  <a:srgbClr val="132440"/>
                </a:solidFill>
                <a:latin typeface="Noto Sans CJK KR"/>
              </a:defRPr>
            </a:pPr>
            <a:r>
              <a:t>원본 복합 명령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360" y="2240280"/>
            <a:ext cx="2011680" cy="73152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800" b="1">
                <a:solidFill>
                  <a:srgbClr val="132440"/>
                </a:solidFill>
                <a:latin typeface="Noto Sans CJK KR"/>
              </a:defRPr>
            </a:pPr>
            <a:r>
              <a:t>TaskDecomposer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2606040"/>
            <a:ext cx="41148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0" y="1325880"/>
            <a:ext cx="2560320" cy="91440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1. 집안에 널려 있는</a:t>
            </a:r>
            <a:br/>
            <a:r>
              <a:t>수건을 찾아 수거해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2926080"/>
            <a:ext cx="2560320" cy="91440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600" b="1">
                <a:solidFill>
                  <a:srgbClr val="132440"/>
                </a:solidFill>
                <a:latin typeface="Noto Sans CJK KR"/>
              </a:defRPr>
            </a:pPr>
            <a:r>
              <a:t>2. 수거한 수건을</a:t>
            </a:r>
            <a:br/>
            <a:r>
              <a:t>바구니에 넣어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4892040" y="1783080"/>
            <a:ext cx="594360" cy="73152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892040" y="2697480"/>
            <a:ext cx="594360" cy="68580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549640" y="2240280"/>
            <a:ext cx="2971800" cy="731520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700" b="1">
                <a:solidFill>
                  <a:srgbClr val="132440"/>
                </a:solidFill>
                <a:latin typeface="Noto Sans CJK KR"/>
              </a:defRPr>
            </a:pPr>
            <a:r>
              <a:t>또는 1단계로 반환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0">
                <a:solidFill>
                  <a:srgbClr val="5D6978"/>
                </a:solidFill>
                <a:latin typeface="Noto Sans CJK KR"/>
              </a:defRPr>
            </a:pPr>
            <a:r>
              <a:t>※ 정확한 steps 출력은 실행 시 기존 planner LLM 응답에 따라 달라짐</a:t>
            </a:r>
            <a:br/>
            <a:r>
              <a:t>※ 최대 기본 6단계 · 분해/JSON 실패 시 원문 단일 단계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8. 하위 단계의 순차 실행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2057400"/>
            <a:ext cx="1828800" cy="82296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1단계 LLM planner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331720" y="2468880"/>
            <a:ext cx="54864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880360" y="2057400"/>
            <a:ext cx="1828800" cy="822960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스킬 선택·실행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09160" y="2468880"/>
            <a:ext cx="54864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257800" y="2057400"/>
            <a:ext cx="1828800" cy="82296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5D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결과·관측 저장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468880"/>
            <a:ext cx="54864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35240" y="2057400"/>
            <a:ext cx="1828800" cy="82296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2단계 상태 갱신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40" y="2468880"/>
            <a:ext cx="457200" cy="0"/>
          </a:xfrm>
          <a:prstGeom prst="line">
            <a:avLst/>
          </a:prstGeom>
          <a:ln w="3175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921240" y="2057400"/>
            <a:ext cx="1828800" cy="82296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2단계 LLM 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3703320"/>
            <a:ext cx="8549640" cy="1143000"/>
          </a:xfrm>
          <a:prstGeom prst="round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500">
                <a:solidFill>
                  <a:srgbClr val="FFFFFF"/>
                </a:solidFill>
                <a:latin typeface="DejaVu Sans Mono"/>
              </a:defRPr>
            </a:pPr>
            <a:r>
              <a:t>[이전 단계 요약]</a:t>
            </a:r>
            <a:br/>
            <a:r>
              <a:t>1. '...수건을 찾아 수거해' -&gt; 성공/실패</a:t>
            </a:r>
            <a:br/>
            <a:r>
              <a:t>[결과 데이터] ...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5074920"/>
            <a:ext cx="8503920" cy="86868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91D22"/>
                </a:solidFill>
                <a:latin typeface="Noto Sans CJK KR"/>
              </a:defRPr>
            </a:pPr>
            <a:r>
              <a:t>• 각 하위 단계는 Laya를 다시 거치지 않음</a:t>
            </a:r>
          </a:p>
          <a:p>
            <a:pPr>
              <a:spcAft>
                <a:spcPts val="700"/>
              </a:spcAft>
              <a:defRPr sz="1600">
                <a:solidFill>
                  <a:srgbClr val="191D22"/>
                </a:solidFill>
                <a:latin typeface="Noto Sans CJK KR"/>
              </a:defRPr>
            </a:pPr>
            <a:r>
              <a:t>• 각 단계 실패 시 기본 1회 재시도</a:t>
            </a:r>
          </a:p>
          <a:p>
            <a:pPr>
              <a:spcAft>
                <a:spcPts val="700"/>
              </a:spcAft>
              <a:defRPr sz="1600">
                <a:solidFill>
                  <a:srgbClr val="191D22"/>
                </a:solidFill>
                <a:latin typeface="Noto Sans CJK KR"/>
              </a:defRPr>
            </a:pPr>
            <a:r>
              <a:t>• 계속 실패하면 이후 단계 중단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9. 사용할 가능성이 있는 스킬: tidy_home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063240" cy="621792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700" b="1">
                <a:solidFill>
                  <a:srgbClr val="132440"/>
                </a:solidFill>
                <a:latin typeface="Noto Sans CJK KR"/>
              </a:defRPr>
            </a:pPr>
            <a:r>
              <a:t>전체 의도를 유지하는 경우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3063240" cy="1463040"/>
          </a:xfrm>
          <a:prstGeom prst="roundRect">
            <a:avLst/>
          </a:prstGeom>
          <a:solidFill>
            <a:srgbClr val="132440"/>
          </a:solidFill>
          <a:ln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109728"/>
          <a:lstStyle/>
          <a:p>
            <a:pPr algn="ctr">
              <a:defRPr sz="1600">
                <a:solidFill>
                  <a:srgbClr val="FFFFFF"/>
                </a:solidFill>
                <a:latin typeface="DejaVu Sans Mono"/>
              </a:defRPr>
            </a:pPr>
            <a:r>
              <a:t>{</a:t>
            </a:r>
            <a:br/>
            <a:r>
              <a:t>  "skill": "tidy_home",</a:t>
            </a:r>
            <a:br/>
            <a:r>
              <a:t>  "params": {"scope": "home"}</a:t>
            </a:r>
            <a:br/>
            <a:r>
              <a:t>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234440"/>
            <a:ext cx="3154680" cy="658368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1. 기억된 집안 장소 조회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234440"/>
            <a:ext cx="3154680" cy="658368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2. 각 장소를 한 번씩 방문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2313432"/>
            <a:ext cx="3154680" cy="658368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3. 현재 장면 분석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2313432"/>
            <a:ext cx="3154680" cy="658368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4. 정리 대상 판단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392424"/>
            <a:ext cx="3154680" cy="658368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5. 집기·배치 계획 검증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392424"/>
            <a:ext cx="3154680" cy="658368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6. 승인된 목적지에만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471416"/>
            <a:ext cx="3154680" cy="658368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500" b="1">
                <a:solidFill>
                  <a:srgbClr val="132440"/>
                </a:solidFill>
                <a:latin typeface="Noto Sans CJK KR"/>
              </a:defRPr>
            </a:pPr>
            <a:r>
              <a:t>7. 불가 시 위임 또는 미처리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23560"/>
            <a:ext cx="658368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400" b="0">
                <a:solidFill>
                  <a:srgbClr val="5D6978"/>
                </a:solidFill>
                <a:latin typeface="Noto Sans CJK KR"/>
              </a:defRPr>
            </a:pPr>
            <a:r>
              <a:t>프롬프트: ‘집 정리해줘’ → tidy_home(scope='home')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10. 수건과 바구니 처리의 안전 조건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257800" cy="594360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900" b="1">
                <a:solidFill>
                  <a:srgbClr val="132440"/>
                </a:solidFill>
                <a:latin typeface="Noto Sans CJK KR"/>
              </a:defRPr>
            </a:pPr>
            <a:r>
              <a:t>실행에 필요한 조건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029200" cy="32918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집안 장소가 시맨틱 맵/RAG에 등록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수건 탐지 및 3D 위치 확보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수건 집기 manipulation 스킬 보유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바구니가 승인된 정리 목적지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검증된 target_pose 보유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집기 후 배치까지 안전한 계획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43000"/>
            <a:ext cx="5257800" cy="594360"/>
          </a:xfrm>
          <a:prstGeom prst="roundRect">
            <a:avLst/>
          </a:prstGeom>
          <a:solidFill>
            <a:srgbClr val="FCE7E7"/>
          </a:solidFill>
          <a:ln w="1905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900" b="1">
                <a:solidFill>
                  <a:srgbClr val="132440"/>
                </a:solidFill>
                <a:latin typeface="Noto Sans CJK KR"/>
              </a:defRPr>
            </a:pPr>
            <a:r>
              <a:t>조건 미충족 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4983480" cy="329184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기억된 정리 장소 없음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수건을 모호한 생활용품으로 판단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승인된 바구니 3D pose 없음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완전한 집기·배치 계획 없음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manipulation 능력 부족</a:t>
            </a:r>
          </a:p>
          <a:p>
            <a:pPr>
              <a:spcAft>
                <a:spcPts val="700"/>
              </a:spcAft>
              <a:defRPr sz="1700">
                <a:solidFill>
                  <a:srgbClr val="191D22"/>
                </a:solidFill>
                <a:latin typeface="Noto Sans CJK KR"/>
              </a:defRPr>
            </a:pPr>
            <a:r>
              <a:t>• 동료 위임·중단·미처리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1500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800" b="1">
                <a:solidFill>
                  <a:srgbClr val="D24B4B"/>
                </a:solidFill>
                <a:latin typeface="Noto Sans CJK KR"/>
              </a:defRPr>
            </a:pPr>
            <a:r>
              <a:t>tidy_home은 모든 생활용품을 임의로 옮기는 범용 정리 기능이 아님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11. System 1이 직접 decompose하는가?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43000"/>
            <a:ext cx="2011680" cy="658368"/>
          </a:xfrm>
          <a:prstGeom prst="roundRect">
            <a:avLst/>
          </a:prstGeom>
          <a:solidFill>
            <a:srgbClr val="FCE7E7"/>
          </a:solidFill>
          <a:ln w="1905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500" b="1">
                <a:solidFill>
                  <a:srgbClr val="D24B4B"/>
                </a:solidFill>
                <a:latin typeface="Noto Sans CJK KR"/>
              </a:defRPr>
            </a:pPr>
            <a:r>
              <a:t>답: 아니요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057400"/>
            <a:ext cx="2606040" cy="502920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FFFFFF"/>
                </a:solidFill>
                <a:latin typeface="Noto Sans CJK KR"/>
              </a:defRPr>
            </a:pPr>
            <a:r>
              <a:t>구성 요소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057400"/>
            <a:ext cx="5760720" cy="502920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FFFFFF"/>
                </a:solidFill>
                <a:latin typeface="Noto Sans CJK KR"/>
              </a:defRPr>
            </a:pPr>
            <a:r>
              <a:t>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57400"/>
            <a:ext cx="2606040" cy="502920"/>
          </a:xfrm>
          <a:prstGeom prst="roundRect">
            <a:avLst/>
          </a:prstGeom>
          <a:solidFill>
            <a:srgbClr val="132440"/>
          </a:solidFill>
          <a:ln w="19050">
            <a:solidFill>
              <a:srgbClr val="13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0">
                <a:solidFill>
                  <a:srgbClr val="FFFFFF"/>
                </a:solidFill>
                <a:latin typeface="Noto Sans CJK KR"/>
              </a:defRPr>
            </a:pPr>
            <a:r>
              <a:t>Decompose 여부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59689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Laya / System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2596896"/>
            <a:ext cx="576072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빠른 분류·라우팅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259689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하지 않음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236976"/>
            <a:ext cx="260604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looks_compound()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3236976"/>
            <a:ext cx="576072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연결어미 기반 복합 감지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3236976"/>
            <a:ext cx="260604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감지만 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87705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TaskDecomposer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3877056"/>
            <a:ext cx="576072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분해 LLM 호출·순차 실행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387705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오케스트레이션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517136"/>
            <a:ext cx="260604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System 2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4517136"/>
            <a:ext cx="576072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하위 지시문 생성·단계별 계획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4517136"/>
            <a:ext cx="2606040" cy="585216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수행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15721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tidy_home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0400" y="5157216"/>
            <a:ext cx="576072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장소 순회·장면 분석·정리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5157216"/>
            <a:ext cx="2606040" cy="5852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2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300" b="0">
                <a:solidFill>
                  <a:srgbClr val="191D22"/>
                </a:solidFill>
                <a:latin typeface="Noto Sans CJK KR"/>
              </a:defRPr>
            </a:pPr>
            <a:r>
              <a:t>스킬 내부 오케스트레이션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5303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2800" b="1">
                <a:solidFill>
                  <a:srgbClr val="132440"/>
                </a:solidFill>
                <a:latin typeface="Noto Sans CJK KR"/>
              </a:defRPr>
            </a:pPr>
            <a:r>
              <a:t>12. 최종 요약 플로우</a:t>
            </a:r>
          </a:p>
        </p:txBody>
      </p:sp>
      <p:sp>
        <p:nvSpPr>
          <p:cNvPr id="3" name="Rectangle 2"/>
          <p:cNvSpPr/>
          <p:nvPr/>
        </p:nvSpPr>
        <p:spPr>
          <a:xfrm>
            <a:off x="603504" y="896112"/>
            <a:ext cx="914400" cy="54864"/>
          </a:xfrm>
          <a:prstGeom prst="rect">
            <a:avLst/>
          </a:prstGeom>
          <a:solidFill>
            <a:srgbClr val="38BD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" y="2057400"/>
            <a:ext cx="1417320" cy="960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5D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사용자 요청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737360" y="2532888"/>
            <a:ext cx="265176" cy="0"/>
          </a:xfrm>
          <a:prstGeom prst="line">
            <a:avLst/>
          </a:prstGeom>
          <a:ln w="2540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002536" y="2057400"/>
            <a:ext cx="1417320" cy="960120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컨텍스트 수집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419856" y="2532888"/>
            <a:ext cx="265176" cy="0"/>
          </a:xfrm>
          <a:prstGeom prst="line">
            <a:avLst/>
          </a:prstGeom>
          <a:ln w="25400">
            <a:solidFill>
              <a:srgbClr val="2D7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85032" y="2057400"/>
            <a:ext cx="1417320" cy="96012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‘수거해서’ 감지</a:t>
            </a:r>
            <a:br/>
            <a:r>
              <a:t>multi_step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02352" y="2532888"/>
            <a:ext cx="265176" cy="0"/>
          </a:xfrm>
          <a:prstGeom prst="line">
            <a:avLst/>
          </a:prstGeom>
          <a:ln w="25400">
            <a:solidFill>
              <a:srgbClr val="F19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367528" y="2057400"/>
            <a:ext cx="1417320" cy="960120"/>
          </a:xfrm>
          <a:prstGeom prst="roundRect">
            <a:avLst/>
          </a:prstGeom>
          <a:solidFill>
            <a:srgbClr val="FCE7E7"/>
          </a:solidFill>
          <a:ln w="19050">
            <a:solidFill>
              <a:srgbClr val="D2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Laya 호출 없이</a:t>
            </a:r>
            <a:br/>
            <a:r>
              <a:t>System 2 전달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784848" y="2532888"/>
            <a:ext cx="265176" cy="0"/>
          </a:xfrm>
          <a:prstGeom prst="line">
            <a:avLst/>
          </a:prstGeom>
          <a:ln w="25400">
            <a:solidFill>
              <a:srgbClr val="D2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050024" y="2057400"/>
            <a:ext cx="1417320" cy="960120"/>
          </a:xfrm>
          <a:prstGeom prst="roundRect">
            <a:avLst/>
          </a:prstGeom>
          <a:solidFill>
            <a:srgbClr val="FFEFDD"/>
          </a:solidFill>
          <a:ln w="19050">
            <a:solidFill>
              <a:srgbClr val="F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TaskDecomposer</a:t>
            </a:r>
            <a:br/>
            <a:r>
              <a:t>기존 LLM 분해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67344" y="2532888"/>
            <a:ext cx="265176" cy="0"/>
          </a:xfrm>
          <a:prstGeom prst="line">
            <a:avLst/>
          </a:prstGeom>
          <a:ln w="25400">
            <a:solidFill>
              <a:srgbClr val="F191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732520" y="2057400"/>
            <a:ext cx="1417320" cy="960120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단계별 planner</a:t>
            </a:r>
            <a:br/>
            <a:r>
              <a:t>선택·검증·실행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149840" y="2532888"/>
            <a:ext cx="265176" cy="0"/>
          </a:xfrm>
          <a:prstGeom prst="line">
            <a:avLst/>
          </a:prstGeom>
          <a:ln w="25400">
            <a:solidFill>
              <a:srgbClr val="2D9C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415016" y="2057400"/>
            <a:ext cx="1417320" cy="960120"/>
          </a:xfrm>
          <a:prstGeom prst="roundRect">
            <a:avLst/>
          </a:prstGeom>
          <a:solidFill>
            <a:srgbClr val="F2F5F8"/>
          </a:solidFill>
          <a:ln w="19050">
            <a:solidFill>
              <a:srgbClr val="5D69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400" b="1">
                <a:solidFill>
                  <a:srgbClr val="132440"/>
                </a:solidFill>
                <a:latin typeface="Noto Sans CJK KR"/>
              </a:defRPr>
            </a:pPr>
            <a:r>
              <a:t>완료 또는</a:t>
            </a:r>
            <a:br/>
            <a:r>
              <a:t>실패 단계 중단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4069080"/>
            <a:ext cx="10149840" cy="658368"/>
          </a:xfrm>
          <a:prstGeom prst="roundRect">
            <a:avLst/>
          </a:prstGeom>
          <a:solidFill>
            <a:srgbClr val="E1EFFA"/>
          </a:solidFill>
          <a:ln w="19050">
            <a:solidFill>
              <a:srgbClr val="2D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800" b="1">
                <a:solidFill>
                  <a:srgbClr val="132440"/>
                </a:solidFill>
                <a:latin typeface="Noto Sans CJK KR"/>
              </a:defRPr>
            </a:pPr>
            <a:r>
              <a:t>System 1: ‘복합 작업이므로 직접 실행하지 않고 System 2로 넘긴다.’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4983480"/>
            <a:ext cx="10149840" cy="658368"/>
          </a:xfrm>
          <a:prstGeom prst="roundRect">
            <a:avLst/>
          </a:prstGeom>
          <a:solidFill>
            <a:srgbClr val="E0F5ED"/>
          </a:solidFill>
          <a:ln w="19050">
            <a:solidFill>
              <a:srgbClr val="2D9C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1800" b="1">
                <a:solidFill>
                  <a:srgbClr val="132440"/>
                </a:solidFill>
                <a:latin typeface="Noto Sans CJK KR"/>
              </a:defRPr>
            </a:pPr>
            <a:r>
              <a:t>TaskDecomposer + System 2: ‘하위 지시문으로 분해하고 각 단계를 계획·실행한다.’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777240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900" b="0">
                <a:solidFill>
                  <a:srgbClr val="5D6978"/>
                </a:solidFill>
                <a:latin typeface="Noto Sans CJK KR"/>
              </a:defRPr>
            </a:pPr>
            <a:r>
              <a:t>RoboClaw System 1 · Laya 요청 처리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528816"/>
            <a:ext cx="502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1000" b="0">
                <a:solidFill>
                  <a:srgbClr val="5D6978"/>
                </a:solidFill>
                <a:latin typeface="Noto Sans CJK KR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4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Noto Sans CJK KR"/>
              </a:defRPr>
            </a:pPr>
            <a:r>
              <a:t>핵심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241280" cy="3017520"/>
          </a:xfrm>
          <a:prstGeom prst="rect">
            <a:avLst/>
          </a:prstGeom>
          <a:noFill/>
        </p:spPr>
        <p:txBody>
          <a:bodyPr wrap="square" lIns="73152" rIns="27432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  <a:latin typeface="Noto Sans CJK KR"/>
              </a:defRPr>
            </a:pPr>
            <a:r>
              <a:t>• Laya는 router이며 작업 실행기나 planner가 아님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  <a:latin typeface="Noto Sans CJK KR"/>
              </a:defRPr>
            </a:pPr>
            <a:r>
              <a:t>• 해당 문장은 ‘-해서’로 복합 명령 판정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  <a:latin typeface="Noto Sans CJK KR"/>
              </a:defRPr>
            </a:pPr>
            <a:r>
              <a:t>• 이 요청에서는 실제 Laya 서버 호출이 발생하지 않음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  <a:latin typeface="Noto Sans CJK KR"/>
              </a:defRPr>
            </a:pPr>
            <a:r>
              <a:t>• 실제 task decomposition은 TaskDecomposer + System 2 LLM이 수행</a:t>
            </a:r>
          </a:p>
          <a:p>
            <a:pPr>
              <a:spcAft>
                <a:spcPts val="1400"/>
              </a:spcAft>
              <a:defRPr sz="2100">
                <a:solidFill>
                  <a:srgbClr val="FFFFFF"/>
                </a:solidFill>
                <a:latin typeface="Noto Sans CJK KR"/>
              </a:defRPr>
            </a:pPr>
            <a:r>
              <a:t>• 수건→바구니 물리 실행은 등록 장소·3D pose·조작 능력·안전 계획이 필요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5074920"/>
            <a:ext cx="10287000" cy="777240"/>
          </a:xfrm>
          <a:prstGeom prst="roundRect">
            <a:avLst/>
          </a:prstGeom>
          <a:solidFill>
            <a:srgbClr val="1F3758"/>
          </a:solidFill>
          <a:ln w="19050">
            <a:solidFill>
              <a:srgbClr val="38BD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결론: System 1은 분해하지 않고, 복합 요청을 System 2 분해 경로로 라우팅한다.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144768"/>
            <a:ext cx="841248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defRPr sz="1200" b="0">
                <a:solidFill>
                  <a:srgbClr val="B4BECD"/>
                </a:solidFill>
                <a:latin typeface="Noto Sans CJK KR"/>
              </a:defRPr>
            </a:pPr>
            <a:r>
              <a:t>상세 문서: docs/SYSTEM1_LAYA_REQUEST_FLOW_ANALYSIS.md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